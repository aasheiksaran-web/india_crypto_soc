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3" r:id="rId24"/>
    <p:sldId id="271" r:id="rId22"/>
    <p:sldId id="272" r:id="rId23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  <Relationship Id="rId22" Type="http://schemas.openxmlformats.org/officeDocument/2006/relationships/slide" Target="slides/slide16.xml"/>
  <Relationship Id="rId23" Type="http://schemas.openxmlformats.org/officeDocument/2006/relationships/slide" Target="slides/slide17.xml"/>
  <Relationship Id="rId24" Type="http://schemas.openxmlformats.org/officeDocument/2006/relationships/slide" Target="slides/slide18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INDIA_CRYPTO_SOC is a full custom secure SoC targeting TSMC 28nm HPC for PDF and image cryptographic processing.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SoC integrates a hardened RISC-V core, AES-256 with cellular automaton rounds, a streaming PDF engine, and a compliant TRNG — all in under 0.65 mm² at 28nm HPC.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AXI masters — the CPU data bus and the PDF DMA — connect through an 8-slave crossbar. Every path passes through the AXI Firewall with write-once permissions.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CPU is a hardened RV32IM with three layers of fault detection: parity at fetch, ECC on registers, and PC range enforcement. The 8 custom AES instructions execute combinationally with no pipeline stall.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AES-256 uses 14 rounds, each of which passes through four custom Cellular Automaton transformations that add nonlinear perturbation on top of the standard AES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PDF engine is a 17-state FSM that handles the full lifecycle of a document — parse header, load key from I2C, generate IV from TRNG, then stream the entire binary through AES-CTR in 16-byte blocks.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28nm, transistor metastability windows shrink, reducing raw entropy per metastable FF channel. ISSCC 2023 demonstrated a synthesized ring-oscillator TRNG achieving 23 Mb/s at 23 pJ/b in 28nm — we adopt this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AXI Firewall enforces isolation between the CPU data bus and the DMA data path. A write-once lock mechanism prevents run-time permission escalation — once set, the table is hardware immutable.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reduced SRAM from 128 KB to 64 KB by exploiting the streaming nature of AES-CTR. At 28nm, 64 KB SRAM fits in 0.110 mm² — enabling the design to close timing and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area estimates are calibrated against the Trikarenos chip — real taped-out silicon on TSMC 28HPC+. Our logic gate count is higher due to AES-CA, but we achieve smaller SRAM by streaming.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10 signal pins are accounted for. SPI handles bulk PDF streaming. UART handles control commands. I2C is the secure key provisioning channel — isolated from the SPI data plane at the firewall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encryption flow is fully pipelined: while AES-CA processes block N, the DMA is already streaming block N+1. The CA-HMAC tag is appended at the end before the final SPI burst.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is layered across four domains: CPU hardening prevents software exploits, crypto strength resists cryptanalysis, access control isolates hardware domains, and key security prevents exfiltration.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INDIA_CRYPTO_SOC achieves a complete cryptographic SoC in under 0.65 mm² by combining streaming AES-CTR architecture, a hardened RISC-V core, and hardware-enforced isolation — all calibrated against published 28nm silicon.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INDIA_CRYPTO_SOC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Cryptographic SoC for PDF &amp; Image Processing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TSMC 28nm HPC  |  Die: ~0.648 mm²  |  250 MHz @ 0.9V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3337560"/>
            <a:ext cx="1371600" cy="54864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0" y="3337560"/>
            <a:ext cx="1371600" cy="548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0233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RV32IM 5-stage pipeline CPU with AES ISA extensions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CTR + Cellular Automaton (CA) accelerator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PDF Engine — 17-state streaming FSM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Ring-Oscillator TRNG (SP 800-90B)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AXI-Lite 2-master × 8-slave crossbar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Firewall — 16-entry write-once table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 UART, I2C, SPI (APB bridges)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Dual-port SRAM: 32 KB IMEM + 32 KB DMEM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ROM: 32 KB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0" y="1188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0.648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754880" y="1783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mm² Total Die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233172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4231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754880" y="3017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MHz @ 0.9V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356616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6576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285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54880" y="4251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MB/s AES Throughput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Top-Level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dmem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(AXI Master m0)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9659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(AXI Master m1)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743200"/>
            <a:ext cx="3474720" cy="594360"/>
          </a:xfrm>
          <a:prstGeom prst="roundRect">
            <a:avLst>
              <a:gd name="adj" fmla="val 12308"/>
            </a:avLst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7432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AXI-Lite Crossbar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 × 8S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429000"/>
            <a:ext cx="3474720" cy="594360"/>
          </a:xfrm>
          <a:prstGeom prst="roundRect">
            <a:avLst>
              <a:gd name="adj" fmla="val 1230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4290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Firewall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16-entry permission table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868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Slaves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0" y="1234440"/>
            <a:ext cx="2240280" cy="530352"/>
          </a:xfrm>
          <a:prstGeom prst="roundRect">
            <a:avLst>
              <a:gd name="adj" fmla="val 12069"/>
            </a:avLst>
          </a:prstGeom>
          <a:solidFill>
            <a:srgbClr val="E8EDF2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1234440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Boot ROM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0" y="1892808"/>
            <a:ext cx="2240280" cy="530352"/>
          </a:xfrm>
          <a:prstGeom prst="roundRect">
            <a:avLst>
              <a:gd name="adj" fmla="val 12069"/>
            </a:avLst>
          </a:prstGeom>
          <a:solidFill>
            <a:srgbClr val="E8EDF2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1892808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SRAM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0" y="2551176"/>
            <a:ext cx="2240280" cy="530352"/>
          </a:xfrm>
          <a:prstGeom prst="roundRect">
            <a:avLst>
              <a:gd name="adj" fmla="val 12069"/>
            </a:avLst>
          </a:prstGeom>
          <a:solidFill>
            <a:srgbClr val="E8EDF2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2551176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AES-CA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0" y="3209544"/>
            <a:ext cx="2240280" cy="530352"/>
          </a:xfrm>
          <a:prstGeom prst="roundRect">
            <a:avLst>
              <a:gd name="adj" fmla="val 12069"/>
            </a:avLst>
          </a:prstGeom>
          <a:solidFill>
            <a:srgbClr val="E8EDF2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3209544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TRNG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46520" y="1234440"/>
            <a:ext cx="2240280" cy="530352"/>
          </a:xfrm>
          <a:prstGeom prst="roundRect">
            <a:avLst>
              <a:gd name="adj" fmla="val 12069"/>
            </a:avLst>
          </a:prstGeom>
          <a:solidFill>
            <a:srgbClr val="E8EDF2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1234440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PDF Engine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46520" y="1892808"/>
            <a:ext cx="2240280" cy="530352"/>
          </a:xfrm>
          <a:prstGeom prst="roundRect">
            <a:avLst>
              <a:gd name="adj" fmla="val 12069"/>
            </a:avLst>
          </a:prstGeom>
          <a:solidFill>
            <a:srgbClr val="E8EDF2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1892808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FW CSR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46520" y="2551176"/>
            <a:ext cx="2240280" cy="530352"/>
          </a:xfrm>
          <a:prstGeom prst="roundRect">
            <a:avLst>
              <a:gd name="adj" fmla="val 12069"/>
            </a:avLst>
          </a:prstGeom>
          <a:solidFill>
            <a:srgbClr val="E8EDF2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2551176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UART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46520" y="3209544"/>
            <a:ext cx="2240280" cy="530352"/>
          </a:xfrm>
          <a:prstGeom prst="roundRect">
            <a:avLst>
              <a:gd name="adj" fmla="val 12069"/>
            </a:avLst>
          </a:prstGeom>
          <a:solidFill>
            <a:srgbClr val="E8EDF2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3209544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I2C/SPI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Firewall: 32-bit permission per (master,slave) pair  |  Lock: 0xDEADBEEF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Core — RV32IM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37360" y="914400"/>
            <a:ext cx="137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535"/>
                </a:solidFill>
              </a:rPr>
              <a:t>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74520" y="91440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9144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46120" y="914400"/>
            <a:ext cx="137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535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91440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9144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914400"/>
            <a:ext cx="137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535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92040" y="91440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9144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63640" y="914400"/>
            <a:ext cx="137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535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91440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9144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" y="1691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Features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205740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parity trap at fetch stage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Range Guard: CSR 0xBC0/0xBC1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file ECC: Hamming(7,4)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24-bit Watchdog Timer (WDT)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16916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ISA Extensions (Custom-0)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2057400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E8EDF2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20574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aes_enc_round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20840" y="2057400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E8EDF2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20574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aes_dec_round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2606040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E8EDF2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260604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aes_keygen_assist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20840" y="2606040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E8EDF2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260604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aes_subbytes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3154680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E8EDF2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315468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aes_shiftrows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20840" y="3154680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E8EDF2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315468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aes_mixcols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3703320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E8EDF2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370332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aes_addkey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20840" y="3703320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E8EDF2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370332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aes_ctr_inc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0" y="4297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Combinational sideband — zero pipeline stalls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AES-256 Cellular Automaton Accelerator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CA-1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SubBytes + Rule-90 Perturbation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745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CA-2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ShiftRows (Standard)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834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CA-3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MixColumns in GF(2⁸)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379476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794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CA-4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AddRoundKey + Rule-30 Perturbation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212080" y="91440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9601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21208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Rounds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0" y="214884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21945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~100K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212080" y="2788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Equivalents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12080" y="33832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34290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285 MB/s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212080" y="4023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250 MHz throughput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ENCRYPT and DECRYPT  |  16-byte block streaming  |  CTR mode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PDF Engine — Streaming Crypto FSM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713232" cy="384048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0"/>
            <a:ext cx="713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033272" y="914400"/>
            <a:ext cx="713232" cy="384048"/>
          </a:xfrm>
          <a:prstGeom prst="roundRect">
            <a:avLst>
              <a:gd name="adj" fmla="val 14286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914400"/>
            <a:ext cx="713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792224" y="914400"/>
            <a:ext cx="713232" cy="384048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92224" y="914400"/>
            <a:ext cx="713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KEY_LOAD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51176" y="914400"/>
            <a:ext cx="713232" cy="384048"/>
          </a:xfrm>
          <a:prstGeom prst="roundRect">
            <a:avLst>
              <a:gd name="adj" fmla="val 14286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51176" y="914400"/>
            <a:ext cx="713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IV_GEN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310128" y="914400"/>
            <a:ext cx="713232" cy="384048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914400"/>
            <a:ext cx="713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CTR_INIT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069080" y="914400"/>
            <a:ext cx="713232" cy="384048"/>
          </a:xfrm>
          <a:prstGeom prst="roundRect">
            <a:avLst>
              <a:gd name="adj" fmla="val 14286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69080" y="914400"/>
            <a:ext cx="713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STREAM_IN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28032" y="914400"/>
            <a:ext cx="713232" cy="384048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914400"/>
            <a:ext cx="713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AES_PROC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586984" y="914400"/>
            <a:ext cx="713232" cy="384048"/>
          </a:xfrm>
          <a:prstGeom prst="roundRect">
            <a:avLst>
              <a:gd name="adj" fmla="val 14286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86984" y="914400"/>
            <a:ext cx="713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CA_HMAC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345936" y="914400"/>
            <a:ext cx="713232" cy="384048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5936" y="914400"/>
            <a:ext cx="713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STREAM_OUT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104888" y="914400"/>
            <a:ext cx="713232" cy="384048"/>
          </a:xfrm>
          <a:prstGeom prst="roundRect">
            <a:avLst>
              <a:gd name="adj" fmla="val 14286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04888" y="914400"/>
            <a:ext cx="713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863840" y="914400"/>
            <a:ext cx="713232" cy="384048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0" y="914400"/>
            <a:ext cx="713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4320" y="135331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flow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1691640"/>
            <a:ext cx="2788920" cy="1280160"/>
          </a:xfrm>
          <a:prstGeom prst="roundRect">
            <a:avLst>
              <a:gd name="adj" fmla="val 642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1691640"/>
            <a:ext cx="278892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APP_MODE 0
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Encryption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→ AES-CTR → SPI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291840" y="1691640"/>
            <a:ext cx="2788920" cy="1280160"/>
          </a:xfrm>
          <a:prstGeom prst="roundRect">
            <a:avLst>
              <a:gd name="adj" fmla="val 6429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1691640"/>
            <a:ext cx="278892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APP_MODE 1
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Decryption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path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17920" y="1691640"/>
            <a:ext cx="2788920" cy="1280160"/>
          </a:xfrm>
          <a:prstGeom prst="roundRect">
            <a:avLst>
              <a:gd name="adj" fmla="val 6429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1691640"/>
            <a:ext cx="278892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APP_MODE 2
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Verify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Tag-only check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5760" y="3154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CA-HMAC: Rule-30 based  |  8 iterations  |  256-bit output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3520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entire PDF binary — text + embedded images — as byte stream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TRNG Architecture — 28nm HPC Upgrade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Design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3931920" cy="2286000"/>
          </a:xfrm>
          <a:prstGeom prst="roundRect">
            <a:avLst>
              <a:gd name="adj" fmla="val 3600"/>
            </a:avLst>
          </a:prstGeom>
          <a:solidFill>
            <a:srgbClr val="E8EDF2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25880"/>
            <a:ext cx="3931920" cy="22860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8-channel Metastable FF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(Dual-edge sampling)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Debiaser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Galois LFSR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800-90B: RCT + APT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37033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metastability window narrows at 28nm — entropy loss per channel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28nm HPC Upgrade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4114800" cy="2286000"/>
          </a:xfrm>
          <a:prstGeom prst="roundRect">
            <a:avLst>
              <a:gd name="adj" fmla="val 36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325880"/>
            <a:ext cx="4114800" cy="22860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 Ring-Oscillator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 Source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Debiaser [retained]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Galois LFSR [retained]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800-90B: RCT + APT [retained]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37033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Mb/s @ 23 pJ/b demonstrated in 28nm CMOS (ISSCC 2023)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10 (rosc_ext): external clock injection for ring-osc frequency dithering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 Firewall — Hardware Security Perimeter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Table (16 entries)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91440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25880" y="1234440"/>
            <a:ext cx="109728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234440"/>
            <a:ext cx="182880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 Word [31:0]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554480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E8EDF2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544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25880" y="15544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E8EDF2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15544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1554480"/>
            <a:ext cx="1828800" cy="347472"/>
          </a:xfrm>
          <a:prstGeom prst="roundRect">
            <a:avLst>
              <a:gd name="adj" fmla="val 10526"/>
            </a:avLst>
          </a:prstGeom>
          <a:solidFill>
            <a:srgbClr val="E8EDF2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1554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0xFFFFFFFF (full)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938528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E8EDF2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9385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25880" y="1938528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E8EDF2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19385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1938528"/>
            <a:ext cx="1828800" cy="347472"/>
          </a:xfrm>
          <a:prstGeom prst="roundRect">
            <a:avLst>
              <a:gd name="adj" fmla="val 10526"/>
            </a:avLst>
          </a:prstGeom>
          <a:solidFill>
            <a:srgbClr val="E8EDF2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1938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0x0000FFFF (read-only)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322576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E8EDF2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3225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325880" y="2322576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E8EDF2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25880" y="232257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68880" y="2322576"/>
            <a:ext cx="1828800" cy="347472"/>
          </a:xfrm>
          <a:prstGeom prst="roundRect">
            <a:avLst>
              <a:gd name="adj" fmla="val 10526"/>
            </a:avLst>
          </a:prstGeom>
          <a:solidFill>
            <a:srgbClr val="E8EDF2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23225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0xFFFF0000 (write-only)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706624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E8EDF2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70662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325880" y="2706624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E8EDF2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25880" y="270662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CSRs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68880" y="2706624"/>
            <a:ext cx="1828800" cy="347472"/>
          </a:xfrm>
          <a:prstGeom prst="roundRect">
            <a:avLst>
              <a:gd name="adj" fmla="val 10526"/>
            </a:avLst>
          </a:prstGeom>
          <a:solidFill>
            <a:srgbClr val="E8EDF2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0" y="27066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0x00000000 (denied)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914400"/>
            <a:ext cx="4023360" cy="1051560"/>
          </a:xfrm>
          <a:prstGeom prst="roundRect">
            <a:avLst>
              <a:gd name="adj" fmla="val 7826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914400"/>
            <a:ext cx="4023360" cy="10515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Write-Once Lock
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0xDEADBEEF → table read-only forever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54880" y="2148840"/>
            <a:ext cx="4023360" cy="1051560"/>
          </a:xfrm>
          <a:prstGeom prst="roundRect">
            <a:avLst>
              <a:gd name="adj" fmla="val 7826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148840"/>
            <a:ext cx="4023360" cy="10515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Logging
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 logged + IRQ raised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754880" y="3383280"/>
            <a:ext cx="4023360" cy="1051560"/>
          </a:xfrm>
          <a:prstGeom prst="roundRect">
            <a:avLst>
              <a:gd name="adj" fmla="val 7826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383280"/>
            <a:ext cx="4023360" cy="10515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Truncation
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FW output [11:0] → 12-bit slave ports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Architecture — 28nm HPC Sizing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22960"/>
                <a:gridCol w="914400"/>
                <a:gridCol w="1463040"/>
                <a:gridCol w="3840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Words × Width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KB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8192 × 32b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Instructions + boot firmware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KB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8192 × 32b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+ stack + AES buffer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 ROM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KB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8192 × 32b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NOP sled + reset vectors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 KB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On-chip 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365760" y="324612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3246120"/>
            <a:ext cx="8412480" cy="777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PDF Engine uses AES-CTR block streaming — DMEM holds only 16-byte working blocks, not the full PDF. 32 KB DMEM is sufficient.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4160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RTL: localparam SRAM_WORDS = 16384  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28nm HPC Area — Literature-Grounded Estimates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023360" cy="2926080"/>
          </a:xfrm>
          <a:prstGeom prst="roundRect">
            <a:avLst>
              <a:gd name="adj" fmla="val 2813"/>
            </a:avLst>
          </a:prstGeom>
          <a:solidFill>
            <a:srgbClr val="E8EDF2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Trikarenos Silicon (TVLSI 2024)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4023360" cy="2377440"/>
          </a:xfrm>
          <a:prstGeom prst="rect">
            <a:avLst/>
          </a:prstGeom>
          <a:noFill/>
          <a:ln/>
        </p:spPr>
        <p:txBody>
          <a:bodyPr wrap="square" lIns="1905" tIns="2540" rIns="2540" bIns="127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TSMC 28HPC+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Ibex RISC-V cores (lockstep)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KB ECC SRAM = 0.55 mm²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= 0.15 mm²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die = 2.0 mm²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MHz @ 0.9V, 15.7 mW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Effective: 1.55 μm²/GE, 0.269 μm²/bit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868680"/>
          <a:ext cx="41148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18872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 220K 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0.341 mm²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SRAM 64 KB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0.110 mm²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 ROM 32KB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0.017 mm²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 ring 10p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0.150 mm²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0.468 mm²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target ≤ 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0.648 mm²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target ≤ 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0690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TSMC 28nm HP 6T SRAM cell = 0.127 μm²/bit (reference)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10-Pin I/O Assignment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188720"/>
                <a:gridCol w="1005840"/>
                <a:gridCol w="5577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clock (given, not counted)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rst_n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Active-low async reset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spi_mosi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data in from host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spi_miso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Encrypted PDF to host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spi_sck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 clock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spi_cs_n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 chip select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uart_rx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channel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uart_tx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+ IRQ mux (idle-muxed)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i2c_sda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provisioning / OTP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i2c_scl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 clock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rosc_ext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Ring-osc dither / TRNG seed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[SPI] PDF data plane     [UART] Control plane     [I2C] Key management plane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PDF Encryption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2103120" cy="13716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234440"/>
            <a:ext cx="320040" cy="320040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210312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sends PDF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SPI (spi_mosi)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77440" y="1645920"/>
            <a:ext cx="155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535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14600" y="1188720"/>
            <a:ext cx="2103120" cy="1371600"/>
          </a:xfrm>
          <a:prstGeom prst="roundRect">
            <a:avLst>
              <a:gd name="adj" fmla="val 60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234440"/>
            <a:ext cx="320040" cy="320040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1600200"/>
            <a:ext cx="210312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(AXI master m1)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DMEM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1645920"/>
            <a:ext cx="155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535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2103120" cy="13716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234440"/>
            <a:ext cx="320040" cy="320040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600200"/>
            <a:ext cx="210312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triggers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Engine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APP_MODE=0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1645920"/>
            <a:ext cx="155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535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95160" y="1188720"/>
            <a:ext cx="2103120" cy="1371600"/>
          </a:xfrm>
          <a:prstGeom prst="roundRect">
            <a:avLst>
              <a:gd name="adj" fmla="val 60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0" y="1234440"/>
            <a:ext cx="320040" cy="320040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95160" y="1600200"/>
            <a:ext cx="210312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FSM: HEADER_PARSE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KEY_LOAD (I2C OTP)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IV_GEN (TRNG)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0956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2535"/>
                </a:solidFill>
              </a:rPr>
              <a:t>↓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995160" y="2743200"/>
            <a:ext cx="2103120" cy="13716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2788920"/>
            <a:ext cx="320040" cy="320040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2788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95160" y="3154680"/>
            <a:ext cx="210312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AES-CA: 14 rounds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16-byte blocks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285 MB/s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200400"/>
            <a:ext cx="155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535"/>
                </a:solidFill>
              </a:rPr>
              <a:t>←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2743200"/>
            <a:ext cx="2103120" cy="1371600"/>
          </a:xfrm>
          <a:prstGeom prst="roundRect">
            <a:avLst>
              <a:gd name="adj" fmla="val 60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2788920"/>
            <a:ext cx="320040" cy="320040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788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3154680"/>
            <a:ext cx="210312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CA-HMAC appended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Rule-30 × 8 iter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256-bit tag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17720" y="3200400"/>
            <a:ext cx="155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535"/>
                </a:solidFill>
              </a:rPr>
              <a:t>←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514600" y="2743200"/>
            <a:ext cx="2103120" cy="13716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60320" y="2788920"/>
            <a:ext cx="320040" cy="320040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0" y="2788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514600" y="3154680"/>
            <a:ext cx="210312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via SPI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(spi_miso) to host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Architecture — Four Pillars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15568"/>
            <a:ext cx="274320" cy="274320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0972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Hardening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1905" rIns="1905" bIns="127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trap at fetch  |  PC Range Guard CSR 0xBC0/0xBC1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Hamming(7,4) ECC registers  |  24-bit Watchdog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92040" y="1115568"/>
            <a:ext cx="274320" cy="274320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57800" y="10972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Strength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5544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1905" rIns="1905" bIns="127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CTR + CA perturbation (Rule-90/30)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CA-HMAC: Rule-30 × 8 iter, 256-bit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TRNG SP 800-90B (RCT+APT)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127248"/>
            <a:ext cx="274320" cy="274320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1089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356616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1905" rIns="1905" bIns="127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Firewall 16-entry table  |  Write-once lock 0xDEADBEEF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logging + IRQ  |  DMA / CPU stack isolation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01752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3127248"/>
            <a:ext cx="274320" cy="274320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31089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Security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356616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1905" rIns="1905" bIns="127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via I2C only  |  Never on SPI data plane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CA-HMAC binds ciphertext to key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enforces key isolation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7315200" cy="502920"/>
          </a:xfrm>
          <a:prstGeom prst="roundRect">
            <a:avLst>
              <a:gd name="adj" fmla="val 10909"/>
            </a:avLst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371600"/>
            <a:ext cx="54864" cy="50292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37160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RV32IM + AES-256 CA SoC in 0.648 mm² at TSMC 28nm HPC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965960"/>
            <a:ext cx="7315200" cy="502920"/>
          </a:xfrm>
          <a:prstGeom prst="roundRect">
            <a:avLst>
              <a:gd name="adj" fmla="val 10909"/>
            </a:avLst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965960"/>
            <a:ext cx="54864" cy="50292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96596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PDF crypto — AES-CTR block mode, no full-file SRAM required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560320"/>
            <a:ext cx="7315200" cy="502920"/>
          </a:xfrm>
          <a:prstGeom prst="roundRect">
            <a:avLst>
              <a:gd name="adj" fmla="val 10909"/>
            </a:avLst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560320"/>
            <a:ext cx="54864" cy="50292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6032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10-pin constrained design — SPI + UART + I2C fully plane-separated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154680"/>
            <a:ext cx="7315200" cy="502920"/>
          </a:xfrm>
          <a:prstGeom prst="roundRect">
            <a:avLst>
              <a:gd name="adj" fmla="val 10909"/>
            </a:avLst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154680"/>
            <a:ext cx="54864" cy="50292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15468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calibrated from Trikarenos silicon (TVLSI 2024) + ISSCC 2023 TRNG data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3749040"/>
            <a:ext cx="7315200" cy="502920"/>
          </a:xfrm>
          <a:prstGeom prst="roundRect">
            <a:avLst>
              <a:gd name="adj" fmla="val 10909"/>
            </a:avLst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749040"/>
            <a:ext cx="54864" cy="50292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74904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AXI Firewall isolates CPU, DMA, and key management planes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4343400"/>
            <a:ext cx="7315200" cy="502920"/>
          </a:xfrm>
          <a:prstGeom prst="roundRect">
            <a:avLst>
              <a:gd name="adj" fmla="val 10909"/>
            </a:avLst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343400"/>
            <a:ext cx="54864" cy="50292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34340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ready for Aadhaar biometric secure element integration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INDIA_CRYPTO_SOC  |  28nm HPC  |  aasheiksaran1033@gmail.com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4864"/>
            <a:ext cx="914400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9728"/>
            <a:ext cx="9144000" cy="54864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64592"/>
            <a:ext cx="9144000" cy="502920"/>
          </a:xfrm>
          <a:prstGeom prst="rect">
            <a:avLst/>
          </a:prstGeom>
          <a:solidFill>
            <a:srgbClr val="080C18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16459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 Die Floorplan  &amp;  PCB Reference Layout</a:t>
            </a:r>
            <a:endParaRPr lang="en-US" sz="2400" dirty="0"/>
          </a:p>
        </p:txBody>
      </p:sp>
      <p:pic>
        <p:nvPicPr>
          <p:cNvPr id="8" name="Image 0" descr="/Users/aasheiksaran/Desktop/Productivity/INDIA_CRYPTO_SOC/INDIA_CRYPTO_SOC_PCB_Lay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731520"/>
            <a:ext cx="8869680" cy="43159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Die Floorplan (TSMC 28nm HPC, 0.648 mm²)   |   Right: Reference PCB Layout (40mm × 30mm)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Floorplan — Block Area Breakdown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TSMC 28nm HPC  ·  Core: ~0.468 mm²  ·  Total Die: ~0.648 mm²  ·  250 MHz @ 0.9V</a:t>
            </a:r>
            <a:endParaRPr lang="en-US" sz="1200" dirty="0"/>
          </a:p>
        </p:txBody>
      </p:sp>
      <p:pic>
        <p:nvPicPr>
          <p:cNvPr id="5" name="Image 0" descr="/Users/aasheiksaran/Desktop/Productivity/INDIA_CRYPTO_SOC/INDIA_CRYPTO_SOC_PCB_Layou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987552"/>
            <a:ext cx="4343400" cy="3977640"/>
          </a:xfrm>
          <a:prstGeom prst="rect">
            <a:avLst/>
          </a:prstGeom>
        </p:spPr>
      </p:pic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960120"/>
          <a:ext cx="4297680" cy="406908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20116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SRAM 64 KB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0.110 mm²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KB IMEM (Port A) + 32 KB DMEM (Port 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 ROM 32 KB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0.017 mm²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NOP sled (0x00000013) + reset vectors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 Crossbar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0.031 mm²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2-master × 8-slave AXI-Lite fabric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 Firewall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0.019 mm²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16-entry write-once permission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RV32IM CPU 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0.070 mm²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5-stage pipeline + ECC + WDT + AES ISA 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AES-CA Accel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0.155 mm²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AES-256 CTR + 4 CA rounds (~100K GE)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PDF Engine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0.023 mm²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17-state streaming FSM + CA-HMAC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Ring-Osc TRNG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 mm²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 800-90B compliant, 23 Mb/s @ 23 pJ/b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APB Bridges x3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0.023 mm²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UART + I2C + SPI peripheral bridges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0.468 mm²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&lt;= 0.5 mm2  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PDF Decryption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APP_MODE = 1  |  AES-256 CTR Inverse  |  CA-HMAC Verification Before Plaintext Release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920240" cy="1261872"/>
          </a:xfrm>
          <a:prstGeom prst="roundRect">
            <a:avLst>
              <a:gd name="adj" fmla="val 5797"/>
            </a:avLst>
          </a:prstGeom>
          <a:solidFill>
            <a:srgbClr val="0A162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" y="1033272"/>
            <a:ext cx="329184" cy="329184"/>
          </a:xfrm>
          <a:prstGeom prst="ellipse">
            <a:avLst/>
          </a:prstGeom>
          <a:solidFill>
            <a:srgbClr val="FF8F00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33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" y="1380744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sends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PDF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4904" y="1801368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SPI (spi_mosi)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+ HMAC tag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58568" y="1563624"/>
            <a:ext cx="128016" cy="54864"/>
          </a:xfrm>
          <a:prstGeom prst="rect">
            <a:avLst/>
          </a:prstGeom>
          <a:solidFill>
            <a:srgbClr val="FF8F00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04872" y="960120"/>
            <a:ext cx="1920240" cy="1261872"/>
          </a:xfrm>
          <a:prstGeom prst="roundRect">
            <a:avLst>
              <a:gd name="adj" fmla="val 5797"/>
            </a:avLst>
          </a:prstGeom>
          <a:solidFill>
            <a:srgbClr val="0D5560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78024" y="1033272"/>
            <a:ext cx="329184" cy="329184"/>
          </a:xfrm>
          <a:prstGeom prst="ellipse">
            <a:avLst/>
          </a:prstGeom>
          <a:solidFill>
            <a:srgbClr val="FF8F00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78024" y="1033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59736" y="1380744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DMEM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59736" y="1801368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master m1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KB working buffer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43400" y="1563624"/>
            <a:ext cx="128016" cy="54864"/>
          </a:xfrm>
          <a:prstGeom prst="rect">
            <a:avLst/>
          </a:prstGeom>
          <a:solidFill>
            <a:srgbClr val="FF8F00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9704" y="960120"/>
            <a:ext cx="1920240" cy="1261872"/>
          </a:xfrm>
          <a:prstGeom prst="roundRect">
            <a:avLst>
              <a:gd name="adj" fmla="val 5797"/>
            </a:avLst>
          </a:prstGeom>
          <a:solidFill>
            <a:srgbClr val="0A162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62856" y="1033272"/>
            <a:ext cx="329184" cy="329184"/>
          </a:xfrm>
          <a:prstGeom prst="ellipse">
            <a:avLst/>
          </a:prstGeom>
          <a:solidFill>
            <a:srgbClr val="FF8F00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62856" y="1033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44568" y="1380744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triggers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Engine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44568" y="1801368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APP_MODE =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AXI-Lite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28232" y="1563624"/>
            <a:ext cx="128016" cy="54864"/>
          </a:xfrm>
          <a:prstGeom prst="rect">
            <a:avLst/>
          </a:prstGeom>
          <a:solidFill>
            <a:srgbClr val="FF8F00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74536" y="960120"/>
            <a:ext cx="1920240" cy="1261872"/>
          </a:xfrm>
          <a:prstGeom prst="roundRect">
            <a:avLst>
              <a:gd name="adj" fmla="val 5797"/>
            </a:avLst>
          </a:prstGeom>
          <a:solidFill>
            <a:srgbClr val="0D5560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47688" y="1033272"/>
            <a:ext cx="329184" cy="329184"/>
          </a:xfrm>
          <a:prstGeom prst="ellipse">
            <a:avLst/>
          </a:prstGeom>
          <a:solidFill>
            <a:srgbClr val="FF8F00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47688" y="1033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29400" y="1380744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+ IV Extract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29400" y="1801368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read from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header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507224" y="2258568"/>
            <a:ext cx="54864" cy="228600"/>
          </a:xfrm>
          <a:prstGeom prst="rect">
            <a:avLst/>
          </a:prstGeom>
          <a:solidFill>
            <a:srgbClr val="FF8F00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04872" y="2487168"/>
            <a:ext cx="1920240" cy="1261872"/>
          </a:xfrm>
          <a:prstGeom prst="roundRect">
            <a:avLst>
              <a:gd name="adj" fmla="val 5797"/>
            </a:avLst>
          </a:prstGeom>
          <a:solidFill>
            <a:srgbClr val="3A1060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78024" y="2560320"/>
            <a:ext cx="329184" cy="329184"/>
          </a:xfrm>
          <a:prstGeom prst="ellipse">
            <a:avLst/>
          </a:prstGeom>
          <a:solidFill>
            <a:srgbClr val="FF8F00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78024" y="2560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459736" y="290779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AES-CA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459736" y="3328416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rounds inverse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InvSubBytes+InvMixCols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43400" y="3090672"/>
            <a:ext cx="128016" cy="54864"/>
          </a:xfrm>
          <a:prstGeom prst="rect">
            <a:avLst/>
          </a:prstGeom>
          <a:solidFill>
            <a:srgbClr val="FF8F00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89704" y="2487168"/>
            <a:ext cx="1920240" cy="1261872"/>
          </a:xfrm>
          <a:prstGeom prst="roundRect">
            <a:avLst>
              <a:gd name="adj" fmla="val 5797"/>
            </a:avLst>
          </a:prstGeom>
          <a:solidFill>
            <a:srgbClr val="8B1A1A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62856" y="2560320"/>
            <a:ext cx="329184" cy="329184"/>
          </a:xfrm>
          <a:prstGeom prst="ellipse">
            <a:avLst/>
          </a:prstGeom>
          <a:solidFill>
            <a:srgbClr val="FF8F00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62856" y="2560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44568" y="290779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CA-HMAC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44568" y="3328416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Rule-30 x 8 iter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match check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28232" y="3090672"/>
            <a:ext cx="128016" cy="54864"/>
          </a:xfrm>
          <a:prstGeom prst="rect">
            <a:avLst/>
          </a:prstGeom>
          <a:solidFill>
            <a:srgbClr val="FF8F00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74536" y="2487168"/>
            <a:ext cx="1920240" cy="1261872"/>
          </a:xfrm>
          <a:prstGeom prst="roundRect">
            <a:avLst>
              <a:gd name="adj" fmla="val 5797"/>
            </a:avLst>
          </a:prstGeom>
          <a:solidFill>
            <a:srgbClr val="1B5E20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47688" y="2560320"/>
            <a:ext cx="329184" cy="329184"/>
          </a:xfrm>
          <a:prstGeom prst="ellipse">
            <a:avLst/>
          </a:prstGeom>
          <a:solidFill>
            <a:srgbClr val="FF8F00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47688" y="2560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629400" y="290779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out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SPI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629400" y="3328416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spi_miso to host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HMAC valid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0040" y="3858768"/>
            <a:ext cx="8503920" cy="1078992"/>
          </a:xfrm>
          <a:prstGeom prst="roundRect">
            <a:avLst>
              <a:gd name="adj" fmla="val 5085"/>
            </a:avLst>
          </a:prstGeom>
          <a:solidFill>
            <a:srgbClr val="1A2535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9136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Differences vs Encryption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57200" y="42245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Source: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from ciphertext header — NOT generated by TRNG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451713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AES-CA Mode: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rounds — InvSubBytes + InvShiftRows + InvMixColumns + InvAddRoundKey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709160" y="42245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CA-HMAC: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first — plaintext ONLY released if tag matches (APP_MODE 1 safety gate)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09160" y="451713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action: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mismatch → IRQ raised, SPI output blocked, deny_log written — no partial plaintext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2026-08-09T14:44:29Z</dcterms:created>
  <dcterms:modified xsi:type="dcterms:W3CDTF">2026-08-09T14:44:29Z</dcterms:modified>
</cp:coreProperties>
</file>